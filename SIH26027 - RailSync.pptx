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ouif0oiVHntjt5X0Fm+B0+R3Y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hyperlink" Target="https://youtu.be/spbM263K5f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www.ee.iitb.ac.in/~belur/railways/" TargetMode="External"/><Relationship Id="rId9" Type="http://schemas.openxmlformats.org/officeDocument/2006/relationships/hyperlink" Target="https://youtu.be/spbM263K5fQ" TargetMode="External"/><Relationship Id="rId5" Type="http://schemas.openxmlformats.org/officeDocument/2006/relationships/hyperlink" Target="https://cag.gov.in/uploads/download_audit_report/2021/22%2520of%25202021-0624d80426ef498.58288689.pdf" TargetMode="External"/><Relationship Id="rId6" Type="http://schemas.openxmlformats.org/officeDocument/2006/relationships/hyperlink" Target="https://doi.org/10.1016/j.ejor.2006.10.034" TargetMode="External"/><Relationship Id="rId7" Type="http://schemas.openxmlformats.org/officeDocument/2006/relationships/hyperlink" Target="https://doi.org/10.1016/j.ejor.2006.10.034" TargetMode="External"/><Relationship Id="rId8" Type="http://schemas.openxmlformats.org/officeDocument/2006/relationships/hyperlink" Target="https://rosap.ntl.bts.gov/view/dot/927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391330" y="1217459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589441" y="208183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72" y="2076450"/>
            <a:ext cx="7409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 Statement ID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SIH26027</a:t>
            </a:r>
            <a:endParaRPr sz="1000"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lang="en-US" sz="2000">
                <a:solidFill>
                  <a:schemeClr val="accent1"/>
                </a:solidFill>
              </a:rPr>
              <a:t> </a:t>
            </a:r>
            <a:r>
              <a:rPr b="1"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Statement Title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b="1" lang="en-US" sz="2000">
                <a:solidFill>
                  <a:schemeClr val="dk1"/>
                </a:solidFill>
              </a:rPr>
              <a:t> Al-Powered Automatic Block Planning to Maximize Asset Availability for Train Operations on Indian Railways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b="1" lang="en-US" sz="2000">
                <a:solidFill>
                  <a:schemeClr val="dk1"/>
                </a:solidFill>
              </a:rPr>
              <a:t> Transportation &amp; Logistics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PS Category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Software</a:t>
            </a:r>
            <a:endParaRPr sz="1000"/>
          </a:p>
          <a:p>
            <a:pPr indent="-2603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ANTIMATTER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639096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RAILSYNC</a:t>
            </a: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Synchronizing Maintenance, Maximizing Availability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-1" y="2064921"/>
            <a:ext cx="121920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❖"/>
            </a:pPr>
            <a:r>
              <a:rPr b="1" lang="en-US" sz="2500" u="sng">
                <a:solidFill>
                  <a:schemeClr val="dk2"/>
                </a:solidFill>
              </a:rPr>
              <a:t>RailSync</a:t>
            </a:r>
            <a:r>
              <a:rPr b="1" lang="en-US" sz="3200">
                <a:solidFill>
                  <a:schemeClr val="dk2"/>
                </a:solidFill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integrates maintenance requirements from TMS, SMMS and TDMS with train timetable, freight forecasts and corridor availability to automatically generate coordinated maintenance block plans. </a:t>
            </a:r>
            <a:endParaRPr sz="19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06" name="Google Shape;106;p2"/>
          <p:cNvSpPr/>
          <p:nvPr/>
        </p:nvSpPr>
        <p:spPr>
          <a:xfrm>
            <a:off x="398598" y="252246"/>
            <a:ext cx="1833324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AntiMatter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35225" y="3499775"/>
            <a:ext cx="5660700" cy="24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HOW IT WORKS</a:t>
            </a:r>
            <a:endParaRPr b="1" sz="1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UNIFY:</a:t>
            </a:r>
            <a:r>
              <a:rPr lang="en-US" sz="1300">
                <a:solidFill>
                  <a:schemeClr val="dk1"/>
                </a:solidFill>
              </a:rPr>
              <a:t> Standardize all demands into interval variables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EVALUATE:</a:t>
            </a:r>
            <a:r>
              <a:rPr lang="en-US" sz="1300">
                <a:solidFill>
                  <a:schemeClr val="dk1"/>
                </a:solidFill>
              </a:rPr>
              <a:t> Auto-exclude infeasible slots via constraint rules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BUNDLE:</a:t>
            </a:r>
            <a:r>
              <a:rPr lang="en-US" sz="1300">
                <a:solidFill>
                  <a:schemeClr val="dk1"/>
                </a:solidFill>
              </a:rPr>
              <a:t> Merge co-located tasks into Super-Tasks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OPTIMIZE:</a:t>
            </a:r>
            <a:r>
              <a:rPr lang="en-US" sz="1300">
                <a:solidFill>
                  <a:schemeClr val="dk1"/>
                </a:solidFill>
              </a:rPr>
              <a:t> CP-SAT solves all bundles jointly, optimally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REPLAN:</a:t>
            </a:r>
            <a:r>
              <a:rPr lang="en-US" sz="1300">
                <a:solidFill>
                  <a:schemeClr val="dk1"/>
                </a:solidFill>
              </a:rPr>
              <a:t> Freeze past, add disruption, re-optimize fast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APPROVE:</a:t>
            </a:r>
            <a:r>
              <a:rPr lang="en-US" sz="1300">
                <a:solidFill>
                  <a:schemeClr val="dk1"/>
                </a:solidFill>
              </a:rPr>
              <a:t> Planners verify schedule via solver-generated explanations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252925" y="3499775"/>
            <a:ext cx="5660700" cy="24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Oswald"/>
                <a:ea typeface="Oswald"/>
                <a:cs typeface="Oswald"/>
                <a:sym typeface="Oswald"/>
              </a:rPr>
              <a:t>Unique Value Points</a:t>
            </a:r>
            <a:endParaRPr sz="2300"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Cross-Department "Super-Tasks"</a:t>
            </a:r>
            <a:r>
              <a:rPr lang="en-US">
                <a:solidFill>
                  <a:schemeClr val="dk1"/>
                </a:solidFill>
              </a:rPr>
              <a:t> - Auto-bundles Engineering, Signalling, Traction into unified blocks.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Explainable AI (White-Box Scheduling)</a:t>
            </a:r>
            <a:r>
              <a:rPr lang="en-US">
                <a:solidFill>
                  <a:schemeClr val="dk1"/>
                </a:solidFill>
              </a:rPr>
              <a:t> - Lazy clause generation turns constraint math into readable logic.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Live Timetable Integration</a:t>
            </a:r>
            <a:r>
              <a:rPr lang="en-US">
                <a:solidFill>
                  <a:schemeClr val="dk1"/>
                </a:solidFill>
              </a:rPr>
              <a:t> - Embeds real GTFS train schedules into the constraint model.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60-Second Disruption Recovery</a:t>
            </a:r>
            <a:r>
              <a:rPr lang="en-US">
                <a:solidFill>
                  <a:schemeClr val="dk1"/>
                </a:solidFill>
              </a:rPr>
              <a:t> - Dynamic state-injection freezes the past, re-optimizes on the fly.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19" name="Google Shape;119;p3"/>
          <p:cNvSpPr/>
          <p:nvPr/>
        </p:nvSpPr>
        <p:spPr>
          <a:xfrm>
            <a:off x="329773" y="252246"/>
            <a:ext cx="1833324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AntiMatter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19350" y="1095375"/>
            <a:ext cx="3490800" cy="505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 u="sng">
                <a:solidFill>
                  <a:schemeClr val="dk1"/>
                </a:solidFill>
              </a:rPr>
              <a:t>Tech Stack</a:t>
            </a:r>
            <a:endParaRPr b="1" sz="2200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Backend &amp; Optimization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Language:</a:t>
            </a:r>
            <a:r>
              <a:rPr lang="en-US" sz="1100">
                <a:solidFill>
                  <a:schemeClr val="dk1"/>
                </a:solidFill>
              </a:rPr>
              <a:t> Python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Optimization Engine:</a:t>
            </a:r>
            <a:r>
              <a:rPr lang="en-US" sz="1100">
                <a:solidFill>
                  <a:schemeClr val="dk1"/>
                </a:solidFill>
              </a:rPr>
              <a:t> Google OR-Tools CP-SAT solver (constraint programming + lazy clause generation)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Data Processing:</a:t>
            </a:r>
            <a:r>
              <a:rPr lang="en-US" sz="1100">
                <a:solidFill>
                  <a:schemeClr val="dk1"/>
                </a:solidFill>
              </a:rPr>
              <a:t> Pandas, NumPy to standardizing GTFS timetables and multi-department demand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API Layer:</a:t>
            </a:r>
            <a:r>
              <a:rPr lang="en-US" sz="1100">
                <a:solidFill>
                  <a:schemeClr val="dk1"/>
                </a:solidFill>
              </a:rPr>
              <a:t> FastAPI  wraps the solver as an async REST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Frontend &amp; Infrastructure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Frontend:</a:t>
            </a:r>
            <a:r>
              <a:rPr lang="en-US" sz="1100">
                <a:solidFill>
                  <a:schemeClr val="dk1"/>
                </a:solidFill>
              </a:rPr>
              <a:t> React.js for interactive controller dashboard with Gantt-chart views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Compute:</a:t>
            </a:r>
            <a:r>
              <a:rPr lang="en-US" sz="1100">
                <a:solidFill>
                  <a:schemeClr val="dk1"/>
                </a:solidFill>
              </a:rPr>
              <a:t> Multi-core CPU cloud instances (AWS EC2 Compute-Optimized / GCP N2)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550" y="924650"/>
            <a:ext cx="4375050" cy="527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5">
            <a:alphaModFix/>
          </a:blip>
          <a:srcRect b="3920" l="0" r="0" t="0"/>
          <a:stretch/>
        </p:blipFill>
        <p:spPr>
          <a:xfrm>
            <a:off x="8539125" y="1095375"/>
            <a:ext cx="3490802" cy="332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9482550" y="4882225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6"/>
              </a:rPr>
              <a:t>Demo Link</a:t>
            </a:r>
            <a:endParaRPr sz="3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826450" y="120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1" name="Google Shape;131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34" name="Google Shape;134;p4"/>
          <p:cNvSpPr/>
          <p:nvPr/>
        </p:nvSpPr>
        <p:spPr>
          <a:xfrm>
            <a:off x="255498" y="120209"/>
            <a:ext cx="18333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AntiMatter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13600" y="1063825"/>
            <a:ext cx="2458800" cy="163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27950" y="1525538"/>
            <a:ext cx="20301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Feasibility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13600" y="2810925"/>
            <a:ext cx="2458800" cy="163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13600" y="4582838"/>
            <a:ext cx="2458800" cy="163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727950" y="3290125"/>
            <a:ext cx="20301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Challenges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27950" y="4659788"/>
            <a:ext cx="20301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Strategies for overcoming the challenges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362750" y="1064000"/>
            <a:ext cx="6573300" cy="15468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Data Availability</a:t>
            </a:r>
            <a:r>
              <a:rPr lang="en-US" sz="1600">
                <a:solidFill>
                  <a:schemeClr val="dk1"/>
                </a:solidFill>
              </a:rPr>
              <a:t> –Sourcing inputs from multiple departments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Technical Viability</a:t>
            </a:r>
            <a:r>
              <a:rPr lang="en-US" sz="1600">
                <a:solidFill>
                  <a:schemeClr val="dk1"/>
                </a:solidFill>
              </a:rPr>
              <a:t> – Scaling the hybrid AI models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Operational Integration</a:t>
            </a:r>
            <a:r>
              <a:rPr lang="en-US" sz="1600">
                <a:solidFill>
                  <a:schemeClr val="dk1"/>
                </a:solidFill>
              </a:rPr>
              <a:t> – Managing the workforce transition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362750" y="2810925"/>
            <a:ext cx="6735900" cy="16341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-US" sz="1700">
                <a:latin typeface="Oswald"/>
                <a:ea typeface="Oswald"/>
                <a:cs typeface="Oswald"/>
                <a:sym typeface="Oswald"/>
              </a:rPr>
              <a:t>Unifying heterogeneous data across Engineering, Signalling, and Traction.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-US" sz="1700">
                <a:latin typeface="Oswald"/>
                <a:ea typeface="Oswald"/>
                <a:cs typeface="Oswald"/>
                <a:sym typeface="Oswald"/>
              </a:rPr>
              <a:t>Enabling rapid, constraint-aware decisions during dynamic disruptions.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-US" sz="1700">
                <a:latin typeface="Oswald"/>
                <a:ea typeface="Oswald"/>
                <a:cs typeface="Oswald"/>
                <a:sym typeface="Oswald"/>
              </a:rPr>
              <a:t>Transitioning operational personnel away from manual workflows.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Oswald"/>
              <a:buChar char="●"/>
            </a:pPr>
            <a:r>
              <a:rPr lang="en-US" sz="1700">
                <a:latin typeface="Oswald"/>
                <a:ea typeface="Oswald"/>
                <a:cs typeface="Oswald"/>
                <a:sym typeface="Oswald"/>
              </a:rPr>
              <a:t>Maintaining resilient planning against unpredictable network events.</a:t>
            </a:r>
            <a:endParaRPr sz="17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362750" y="4645150"/>
            <a:ext cx="6668100" cy="1409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en-US" sz="1800">
                <a:latin typeface="Oswald"/>
                <a:ea typeface="Oswald"/>
                <a:cs typeface="Oswald"/>
                <a:sym typeface="Oswald"/>
              </a:rPr>
              <a:t>Unified intelligence layer for cross-departmental coordination.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en-US" sz="1800">
                <a:latin typeface="Oswald"/>
                <a:ea typeface="Oswald"/>
                <a:cs typeface="Oswald"/>
                <a:sym typeface="Oswald"/>
              </a:rPr>
              <a:t>Hybrid AI for real-time, disruption-aware planning.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en-US" sz="1800">
                <a:latin typeface="Oswald"/>
                <a:ea typeface="Oswald"/>
                <a:cs typeface="Oswald"/>
                <a:sym typeface="Oswald"/>
              </a:rPr>
              <a:t>Explainable, human-in-the-loop decision support.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en-US" sz="1800">
                <a:latin typeface="Oswald"/>
                <a:ea typeface="Oswald"/>
                <a:cs typeface="Oswald"/>
                <a:sym typeface="Oswald"/>
              </a:rPr>
              <a:t>Resilient, fail-safe, and adaptive system design.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4" name="Google Shape;14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6050" y="1171800"/>
            <a:ext cx="2399849" cy="474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52" name="Google Shape;152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55" name="Google Shape;155;p5"/>
          <p:cNvSpPr/>
          <p:nvPr/>
        </p:nvSpPr>
        <p:spPr>
          <a:xfrm>
            <a:off x="428095" y="252246"/>
            <a:ext cx="1833324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AntiMatter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17300" y="1321375"/>
            <a:ext cx="4530900" cy="3998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Potential impact on the target audience:</a:t>
            </a:r>
            <a:endParaRPr b="1" sz="19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Punctuality:</a:t>
            </a:r>
            <a:r>
              <a:rPr lang="en-US" sz="1600">
                <a:solidFill>
                  <a:schemeClr val="dk1"/>
                </a:solidFill>
              </a:rPr>
              <a:t> Reduces train delays and cancellations caused by uncoordinated maintenance blocks.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Conflict-Free Scheduling:</a:t>
            </a:r>
            <a:r>
              <a:rPr lang="en-US" sz="1600">
                <a:solidFill>
                  <a:schemeClr val="dk1"/>
                </a:solidFill>
              </a:rPr>
              <a:t> Unifies data-driven planning across Civil, Signal, and Telecom departments.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Modernization:</a:t>
            </a:r>
            <a:r>
              <a:rPr lang="en-US" sz="1600">
                <a:solidFill>
                  <a:schemeClr val="dk1"/>
                </a:solidFill>
              </a:rPr>
              <a:t> Directly supports Indian Railways AI-adoption and operational modernization priorities.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498925" y="1321375"/>
            <a:ext cx="4530900" cy="3998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Benefits of the Solution</a:t>
            </a:r>
            <a:endParaRPr b="1" sz="24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300">
                <a:solidFill>
                  <a:schemeClr val="dk1"/>
                </a:solidFill>
              </a:rPr>
              <a:t>Operational Efficiency:</a:t>
            </a:r>
            <a:r>
              <a:rPr lang="en-US" sz="1300">
                <a:solidFill>
                  <a:schemeClr val="dk1"/>
                </a:solidFill>
              </a:rPr>
              <a:t> Reduces manual errors and optimizes asset utilization.</a:t>
            </a:r>
            <a:endParaRPr sz="13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300">
                <a:solidFill>
                  <a:schemeClr val="dk1"/>
                </a:solidFill>
              </a:rPr>
              <a:t>Economic Gains:</a:t>
            </a:r>
            <a:r>
              <a:rPr lang="en-US" sz="1300">
                <a:solidFill>
                  <a:schemeClr val="dk1"/>
                </a:solidFill>
              </a:rPr>
              <a:t> Less downtime increases passenger/freight throughput and revenue.</a:t>
            </a:r>
            <a:endParaRPr sz="13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300">
                <a:solidFill>
                  <a:schemeClr val="dk1"/>
                </a:solidFill>
              </a:rPr>
              <a:t>Rapid Approvals:</a:t>
            </a:r>
            <a:r>
              <a:rPr lang="en-US" sz="1300">
                <a:solidFill>
                  <a:schemeClr val="dk1"/>
                </a:solidFill>
              </a:rPr>
              <a:t> Cuts cross-departmental coordination from hours to minutes.</a:t>
            </a:r>
            <a:endParaRPr sz="13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300">
                <a:solidFill>
                  <a:schemeClr val="dk1"/>
                </a:solidFill>
              </a:rPr>
              <a:t>Resource Optimization:</a:t>
            </a:r>
            <a:r>
              <a:rPr lang="en-US" sz="1300">
                <a:solidFill>
                  <a:schemeClr val="dk1"/>
                </a:solidFill>
              </a:rPr>
              <a:t> Frees engineers from manual planning for critical fieldwork.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158" name="Google Shape;158;p5" title="photo_6116385011691885919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5250" y="1393550"/>
            <a:ext cx="2696726" cy="203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 title="photo_6116385011691885920_y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5250" y="3520552"/>
            <a:ext cx="2696726" cy="1799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67" name="Google Shape;167;p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9" name="Google Shape;169;p6"/>
          <p:cNvSpPr/>
          <p:nvPr/>
        </p:nvSpPr>
        <p:spPr>
          <a:xfrm>
            <a:off x="329773" y="252246"/>
            <a:ext cx="18333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AntiMatter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6"/>
          <p:cNvGrpSpPr/>
          <p:nvPr/>
        </p:nvGrpSpPr>
        <p:grpSpPr>
          <a:xfrm>
            <a:off x="609600" y="1333500"/>
            <a:ext cx="10896600" cy="807300"/>
            <a:chOff x="0" y="0"/>
            <a:chExt cx="10896600" cy="807300"/>
          </a:xfrm>
        </p:grpSpPr>
        <p:sp>
          <p:nvSpPr>
            <p:cNvPr id="172" name="Google Shape;172;p6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228600" y="0"/>
              <a:ext cx="10668000" cy="8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IIT Bombay Railway Operations &amp; Timetabling Lab</a:t>
              </a:r>
              <a:endParaRPr b="1" sz="15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Research on railway timetabling, capacity utilization, and simulation supports data-driven railway optimization. </a:t>
              </a:r>
              <a:r>
                <a:rPr b="1" lang="en-US" sz="1250" u="sng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IIT Bombay Railway Operations Lab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609600" y="2238375"/>
            <a:ext cx="10896600" cy="714300"/>
            <a:chOff x="0" y="0"/>
            <a:chExt cx="10896600" cy="714300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228600" y="0"/>
              <a:ext cx="10668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CAG Report No. 22 of 2021 – Indian Railways</a:t>
              </a:r>
              <a:endParaRPr b="1" sz="15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Highlights fragmented departmental maintenance and the need for </a:t>
              </a:r>
              <a:r>
                <a:rPr b="1" lang="en-US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integrated corridor blocks</a:t>
              </a:r>
              <a:r>
                <a:rPr b="0" lang="en-US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r>
                <a:rPr b="1" lang="en-US" sz="1250" u="sng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CAG Audit Report on Indian Railways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6"/>
          <p:cNvGrpSpPr/>
          <p:nvPr/>
        </p:nvGrpSpPr>
        <p:grpSpPr>
          <a:xfrm>
            <a:off x="609600" y="3143250"/>
            <a:ext cx="10896600" cy="714300"/>
            <a:chOff x="0" y="0"/>
            <a:chExt cx="10896600" cy="714300"/>
          </a:xfrm>
        </p:grpSpPr>
        <p:sp>
          <p:nvSpPr>
            <p:cNvPr id="178" name="Google Shape;178;p6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228600" y="0"/>
              <a:ext cx="10668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Dynamic Railway Rescheduling – D'Ariano et al. (2007)</a:t>
              </a:r>
              <a:endParaRPr b="1" sz="15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Demonstrates rapid schedule re-optimization during railway operational disturbances. </a:t>
              </a:r>
              <a:r>
                <a:rPr b="1" lang="en-US" sz="1250" u="sng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European Journal of Operational Research Paper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609600" y="4048125"/>
            <a:ext cx="10896600" cy="714300"/>
            <a:chOff x="0" y="0"/>
            <a:chExt cx="10896600" cy="71430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228600" y="0"/>
              <a:ext cx="10668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Track Allocation in Indian Railways – Utsav Shukla (2026)</a:t>
              </a:r>
              <a:endParaRPr b="1" sz="15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Studies allocation of limited track time between maintenance and train operations. </a:t>
              </a:r>
              <a:r>
                <a:rPr b="1" lang="en-US" sz="1250" u="sng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Track Allocation in Indian Railways Study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6"/>
          <p:cNvGrpSpPr/>
          <p:nvPr/>
        </p:nvGrpSpPr>
        <p:grpSpPr>
          <a:xfrm>
            <a:off x="609600" y="4953000"/>
            <a:ext cx="10896600" cy="714300"/>
            <a:chOff x="0" y="0"/>
            <a:chExt cx="10896600" cy="714300"/>
          </a:xfrm>
        </p:grpSpPr>
        <p:sp>
          <p:nvSpPr>
            <p:cNvPr id="184" name="Google Shape;184;p6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228600" y="0"/>
              <a:ext cx="10668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Track-Time Governance in Indian Railways – Utsav Shukla (2026)</a:t>
              </a:r>
              <a:endParaRPr b="1" sz="15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Highlights the need for better coordination between maintenance and railway operations. </a:t>
              </a:r>
              <a:r>
                <a:rPr b="1" lang="en-US" sz="1250" u="sng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Corridor Pilot for Track-Time Governance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6"/>
          <p:cNvGrpSpPr/>
          <p:nvPr/>
        </p:nvGrpSpPr>
        <p:grpSpPr>
          <a:xfrm>
            <a:off x="570600" y="5667300"/>
            <a:ext cx="10974600" cy="849825"/>
            <a:chOff x="0" y="-135525"/>
            <a:chExt cx="10974600" cy="849825"/>
          </a:xfrm>
        </p:grpSpPr>
        <p:sp>
          <p:nvSpPr>
            <p:cNvPr id="187" name="Google Shape;187;p6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6"/>
            <p:cNvSpPr txBox="1"/>
            <p:nvPr/>
          </p:nvSpPr>
          <p:spPr>
            <a:xfrm>
              <a:off x="306600" y="-135525"/>
              <a:ext cx="10668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Prototype based on the given idea - </a:t>
              </a:r>
              <a:r>
                <a:rPr b="1" lang="en-US" sz="19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9"/>
                </a:rPr>
                <a:t>https://youtu.be/spbM263K5fQ</a:t>
              </a:r>
              <a:endParaRPr b="0" sz="16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